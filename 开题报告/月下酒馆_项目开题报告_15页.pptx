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5bf55cb1b34077" /><Relationship Type="http://schemas.openxmlformats.org/officeDocument/2006/relationships/extended-properties" Target="/docProps/app.xml" Id="R764e89108d7e4ea5" /><Relationship Type="http://schemas.openxmlformats.org/officeDocument/2006/relationships/officeDocument" Target="/ppt/presentation.xml" Id="Rfcf59fdcc47144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8fe4634ef14737"/>
  </p:sldMasterIdLst>
  <p:notesMasterIdLst>
    <p:notesMasterId xmlns:r="http://schemas.openxmlformats.org/officeDocument/2006/relationships" r:id="Rb471640e47024927"/>
  </p:notesMasterIdLst>
  <p:sldIdLst>
    <p:sldId xmlns:r="http://schemas.openxmlformats.org/officeDocument/2006/relationships" id="256" r:id="R2eebd8be08194e18"/>
    <p:sldId xmlns:r="http://schemas.openxmlformats.org/officeDocument/2006/relationships" id="257" r:id="R027c64d7747941d5"/>
    <p:sldId xmlns:r="http://schemas.openxmlformats.org/officeDocument/2006/relationships" id="258" r:id="R4a5a892a39f04f44"/>
    <p:sldId xmlns:r="http://schemas.openxmlformats.org/officeDocument/2006/relationships" id="259" r:id="R1cc4303402374903"/>
    <p:sldId xmlns:r="http://schemas.openxmlformats.org/officeDocument/2006/relationships" id="260" r:id="Rbb04a1b658834520"/>
    <p:sldId xmlns:r="http://schemas.openxmlformats.org/officeDocument/2006/relationships" id="261" r:id="R214bf903a5d84952"/>
    <p:sldId xmlns:r="http://schemas.openxmlformats.org/officeDocument/2006/relationships" id="262" r:id="Rf6117bc0f9404bc1"/>
    <p:sldId xmlns:r="http://schemas.openxmlformats.org/officeDocument/2006/relationships" id="263" r:id="R59869282a5e44c4a"/>
    <p:sldId xmlns:r="http://schemas.openxmlformats.org/officeDocument/2006/relationships" id="264" r:id="R0baf450cad244037"/>
    <p:sldId xmlns:r="http://schemas.openxmlformats.org/officeDocument/2006/relationships" id="265" r:id="Rb5f8f7f43fcc4f08"/>
    <p:sldId xmlns:r="http://schemas.openxmlformats.org/officeDocument/2006/relationships" id="266" r:id="R8b52613908274e5d"/>
    <p:sldId xmlns:r="http://schemas.openxmlformats.org/officeDocument/2006/relationships" id="267" r:id="R69a5e5d16cf541e7"/>
    <p:sldId xmlns:r="http://schemas.openxmlformats.org/officeDocument/2006/relationships" id="268" r:id="Reb4cc36b66104c78"/>
    <p:sldId xmlns:r="http://schemas.openxmlformats.org/officeDocument/2006/relationships" id="269" r:id="R1dba4811fd0048d2"/>
    <p:sldId xmlns:r="http://schemas.openxmlformats.org/officeDocument/2006/relationships" id="270" r:id="R757dcc89b40d49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7912c908334281" /><Relationship Type="http://schemas.openxmlformats.org/officeDocument/2006/relationships/slideMaster" Target="/ppt/slideMasters/slideMaster1.xml" Id="R918fe4634ef14737" /><Relationship Type="http://schemas.openxmlformats.org/officeDocument/2006/relationships/notesMaster" Target="/ppt/notesMasters/notesMaster1.xml" Id="Rb471640e47024927" /><Relationship Type="http://schemas.openxmlformats.org/officeDocument/2006/relationships/presProps" Target="/ppt/presProps.xml" Id="Rd5e8bc5836a6491d" /><Relationship Type="http://schemas.openxmlformats.org/officeDocument/2006/relationships/tableStyles" Target="/ppt/tableStyles.xml" Id="Rfe262e5d6f6848f6" /><Relationship Type="http://schemas.openxmlformats.org/officeDocument/2006/relationships/slide" Target="/ppt/slides/slide1.xml" Id="R2eebd8be08194e18" /><Relationship Type="http://schemas.openxmlformats.org/officeDocument/2006/relationships/slide" Target="/ppt/slides/slide2.xml" Id="R027c64d7747941d5" /><Relationship Type="http://schemas.openxmlformats.org/officeDocument/2006/relationships/slide" Target="/ppt/slides/slide3.xml" Id="R4a5a892a39f04f44" /><Relationship Type="http://schemas.openxmlformats.org/officeDocument/2006/relationships/slide" Target="/ppt/slides/slide4.xml" Id="R1cc4303402374903" /><Relationship Type="http://schemas.openxmlformats.org/officeDocument/2006/relationships/slide" Target="/ppt/slides/slide5.xml" Id="Rbb04a1b658834520" /><Relationship Type="http://schemas.openxmlformats.org/officeDocument/2006/relationships/slide" Target="/ppt/slides/slide6.xml" Id="R214bf903a5d84952" /><Relationship Type="http://schemas.openxmlformats.org/officeDocument/2006/relationships/slide" Target="/ppt/slides/slide7.xml" Id="Rf6117bc0f9404bc1" /><Relationship Type="http://schemas.openxmlformats.org/officeDocument/2006/relationships/slide" Target="/ppt/slides/slide8.xml" Id="R59869282a5e44c4a" /><Relationship Type="http://schemas.openxmlformats.org/officeDocument/2006/relationships/slide" Target="/ppt/slides/slide9.xml" Id="R0baf450cad244037" /><Relationship Type="http://schemas.openxmlformats.org/officeDocument/2006/relationships/slide" Target="/ppt/slides/slide10.xml" Id="Rb5f8f7f43fcc4f08" /><Relationship Type="http://schemas.openxmlformats.org/officeDocument/2006/relationships/slide" Target="/ppt/slides/slide11.xml" Id="R8b52613908274e5d" /><Relationship Type="http://schemas.openxmlformats.org/officeDocument/2006/relationships/slide" Target="/ppt/slides/slide12.xml" Id="R69a5e5d16cf541e7" /><Relationship Type="http://schemas.openxmlformats.org/officeDocument/2006/relationships/slide" Target="/ppt/slides/slide13.xml" Id="Reb4cc36b66104c78" /><Relationship Type="http://schemas.openxmlformats.org/officeDocument/2006/relationships/slide" Target="/ppt/slides/slide14.xml" Id="R1dba4811fd0048d2" /><Relationship Type="http://schemas.openxmlformats.org/officeDocument/2006/relationships/slide" Target="/ppt/slides/slide15.xml" Id="R757dcc89b40d49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029cbc554b4e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5a6df078724785" /><Relationship Type="http://schemas.openxmlformats.org/officeDocument/2006/relationships/notesMaster" Target="/ppt/notesMasters/notesMaster1.xml" Id="R50447923a9104f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f5e57f049444d7" /><Relationship Type="http://schemas.openxmlformats.org/officeDocument/2006/relationships/notesMaster" Target="/ppt/notesMasters/notesMaster1.xml" Id="Rdcbde3c3026244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758d157ef54491" /><Relationship Type="http://schemas.openxmlformats.org/officeDocument/2006/relationships/notesMaster" Target="/ppt/notesMasters/notesMaster1.xml" Id="R325b00f389b147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84217f1a8440cc" /><Relationship Type="http://schemas.openxmlformats.org/officeDocument/2006/relationships/notesMaster" Target="/ppt/notesMasters/notesMaster1.xml" Id="Rced3fcda5e8b46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ec5f4681d64ac2" /><Relationship Type="http://schemas.openxmlformats.org/officeDocument/2006/relationships/notesMaster" Target="/ppt/notesMasters/notesMaster1.xml" Id="Re1fe0a34583340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8bafe4029d4092" /><Relationship Type="http://schemas.openxmlformats.org/officeDocument/2006/relationships/notesMaster" Target="/ppt/notesMasters/notesMaster1.xml" Id="R381cae67162c47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3bad090d4a4739" /><Relationship Type="http://schemas.openxmlformats.org/officeDocument/2006/relationships/notesMaster" Target="/ppt/notesMasters/notesMaster1.xml" Id="R4980f0a4bcc44f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ff0ebadf5042cc" /><Relationship Type="http://schemas.openxmlformats.org/officeDocument/2006/relationships/notesMaster" Target="/ppt/notesMasters/notesMaster1.xml" Id="Ref73e2fef3304f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634529197647fa" /><Relationship Type="http://schemas.openxmlformats.org/officeDocument/2006/relationships/notesMaster" Target="/ppt/notesMasters/notesMaster1.xml" Id="R3b062ed5555647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38842ed7b04f0b" /><Relationship Type="http://schemas.openxmlformats.org/officeDocument/2006/relationships/notesMaster" Target="/ppt/notesMasters/notesMaster1.xml" Id="Rd63d2640f88643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b433f8d6e284b8d" /><Relationship Type="http://schemas.openxmlformats.org/officeDocument/2006/relationships/notesMaster" Target="/ppt/notesMasters/notesMaster1.xml" Id="R8c13293252834cc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39764a5aac404a" /><Relationship Type="http://schemas.openxmlformats.org/officeDocument/2006/relationships/notesMaster" Target="/ppt/notesMasters/notesMaster1.xml" Id="R53d565c435ba4c6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587c53102c24676" /><Relationship Type="http://schemas.openxmlformats.org/officeDocument/2006/relationships/notesMaster" Target="/ppt/notesMasters/notesMaster1.xml" Id="R8c75ed4a2b5047f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f48878b4ca3453a" /><Relationship Type="http://schemas.openxmlformats.org/officeDocument/2006/relationships/notesMaster" Target="/ppt/notesMasters/notesMaster1.xml" Id="R94aee4638b3942d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33b0168584b4d7c" /><Relationship Type="http://schemas.openxmlformats.org/officeDocument/2006/relationships/notesMaster" Target="/ppt/notesMasters/notesMaster1.xml" Id="Raedb3ec7e1b044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项目来源：小组作业/The-Moonlit-Tankard-main/README.md、docs/progress.md。配图：用户提供的主页面展示.png。项目已有可运行的浏览器端原型，本报告介绍选题、原型基础及后续开发计划。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来源：小组作业/The-Moonlit-Tankard-main/README.md、docs/design/2026-10-22-ai-staff-tavern.md、src/ai.js。配图：伙伴聊天界面展示.png。目标用户与问题是本项目的设计定位，不是用户调研结论。现有原型已尝试将经营上下文注入聊天，后续继续完善角色差异与事件关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参考项目：Generative Agents，https://github.com/joonspk-research/generative_agents；论文 Generative Agents: Interactive Simulacra of Human Behavior，https://arxiv.org/abs/2304.03442。SillyTavern，https://github.com/SillyTavern/SillyTavern；官方文档 https://docs.sillytavern.app/。本页仅概述公开项目的典型机制与定性展示效果，不给出量化性能或本项目实测比较。两者为相关方向案例，并非本项目代码来源。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依据：The-Moonlit-Tankard-main/README.md、src/engine.js、src/progression.js、src/content.js、src/ai.js。现有功能依据项目源码和界面。内容扩展为后续计划。配图：客人点单Staff接单画面展示.png。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依据：The-Moonlit-Tankard-main/README.md、src/engine.js、src/progression.js、src/content.js、src/ai.js。配图：客人点单Staff接单画面展示2.png。连击加成以原型实现为准，截图中的收入为单次示例。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依据：The-Moonlit-Tankard-main/README.md、src/engine.js、src/progression.js、src/content.js、src/ai.js。配图：饮品菜单展示.png、秘方解锁界面展示.png。当前秘方集合共12项。截图为原型界面，具体库存及已解锁数量随存档变化。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依据：The-Moonlit-Tankard-main/README.md、src/engine.js、src/progression.js、src/content.js、src/ai.js。配图：Addition/补货系统展示.png。容量数值为截图所示基础状态，扩容后容量改变。界面中单价为该存档当日示例。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The-Moonlit-Tankard-main/README.md、src/engine.js、src/progression.js、src/content.js、src/ai.js。配图：Addition/酒馆装修展示.png。截图中调饮台120G、柔光与音乐160G、储藏柜140G、窗边绿意160G。设备效果与桌位规模以当前原型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The-Moonlit-Tankard-main/README.md、src/engine.js、src/progression.js、src/content.js、src/ai.js。配图：Addition/伙伴系统展示.png。截图中青芽已招募，当前值班人数1/3。各伙伴有招募成本、每晚工资和不同增益。聊天功能为现有原型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配图：用户提供的 Addition/伙伴系统展示_未来会添加的伙伴.jpg。完整保留七位角色的原始排列与比例。图中角色为未来加入的形象预览，姓名、能力和事件尚待设计，不表示已实装或与任何模型品牌对应。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The-Moonlit-Tankard-main/README.md、src/engine.js、src/progression.js、src/content.js、src/ai.js。配图：Addition/派对系统展示.png。派对基础饮品收入加成35%，持续时间为游戏内时间。三桌派对奖励每天仅可领取一次。出杯风格数值来自界面与当前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来源：小组作业/The-Moonlit-Tankard-main/README.md、docs/progress.md、src/content.js、src/engine.js。配图：特殊事件展示.png。现有“虚构黄仁勋客串全场买单”是游戏内戏仿事件，并非真实人物合作或代言。节日夜、限时订单、神秘来客、伙伴专属委托及事件结果写入记忆均为拟扩展方向，具体规则待开发和试玩确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The-Moonlit-Tankard-main/README.md、src/engine.js、src/progression.js、src/content.js、src/ai.js。配图：Addition/结算系统展示.png为打烊确认对话框，结算界面展示.png为当晚账本。两张截图可能来自不同存档时点，数值不作为同一晚的财务核对。长期招募及设备投入不全部计入营业净额，详见原型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来源：小组作业/The-Moonlit-Tankard-main/README.md、src/ai.js、src/storage.js、src/engine.js。配图：大模型链接页面展示.png。当前为纯前端、本机浏览器直连服务商，Python仅负责静态文件服务。默认百炼兼容模式/qwen-plus，可配置其他兼容端点。截图选择了DeepSeek模型，不代表DeepSeek二创角色已加入。API Key截图已遮蔽，本报告不包含密钥。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依据：The-Moonlit-Tankard-main/README.md、src/engine.js、src/progression.js、src/content.js、src/ai.js。本页为后续开发计划及验收方向，不虚构日期、团队分工或尚未完成的测试结果。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83f24191134f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d72a0a6e934154" /><Relationship Type="http://schemas.openxmlformats.org/officeDocument/2006/relationships/slideLayout" Target="/ppt/slideLayouts/slideLayout1.xml" Id="R31ffbb9a4de943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ffbb9a4de943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45663828b43a2" /><Relationship Type="http://schemas.openxmlformats.org/officeDocument/2006/relationships/image" Target="/ppt/media/image.png" Id="R8134e32048434969" /><Relationship Type="http://schemas.openxmlformats.org/officeDocument/2006/relationships/notesSlide" Target="/ppt/notesSlides/notesSlide1.xml" Id="R0674de90d6734c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5226363bc4640" /><Relationship Type="http://schemas.openxmlformats.org/officeDocument/2006/relationships/image" Target="/ppt/media/image2.png" Id="R8e24fa2fa41a4ba8" /><Relationship Type="http://schemas.openxmlformats.org/officeDocument/2006/relationships/notesSlide" Target="/ppt/notesSlides/notesSlide2.xml" Id="R202c0d4156e74f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cc3c20fc64d37" /><Relationship Type="http://schemas.openxmlformats.org/officeDocument/2006/relationships/notesSlide" Target="/ppt/notesSlides/notesSlide3.xml" Id="R43151238eaa047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d120061734cb1" /><Relationship Type="http://schemas.openxmlformats.org/officeDocument/2006/relationships/image" Target="/ppt/media/image3.png" Id="R28dd95702de84914" /><Relationship Type="http://schemas.openxmlformats.org/officeDocument/2006/relationships/notesSlide" Target="/ppt/notesSlides/notesSlide4.xml" Id="Re686a379ca944a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94f9838fc408e" /><Relationship Type="http://schemas.openxmlformats.org/officeDocument/2006/relationships/image" Target="/ppt/media/image4.png" Id="R164e4f5cb5d944af" /><Relationship Type="http://schemas.openxmlformats.org/officeDocument/2006/relationships/notesSlide" Target="/ppt/notesSlides/notesSlide5.xml" Id="R9aef07d280034e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1c868ed6244e5" /><Relationship Type="http://schemas.openxmlformats.org/officeDocument/2006/relationships/image" Target="/ppt/media/image5.png" Id="R4b20e269d7ac443c" /><Relationship Type="http://schemas.openxmlformats.org/officeDocument/2006/relationships/image" Target="/ppt/media/image6.png" Id="Ra74fe72056384791" /><Relationship Type="http://schemas.openxmlformats.org/officeDocument/2006/relationships/notesSlide" Target="/ppt/notesSlides/notesSlide6.xml" Id="R7c0a0e10dd9d4f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9269d5b4d4ca2" /><Relationship Type="http://schemas.openxmlformats.org/officeDocument/2006/relationships/image" Target="/ppt/media/image7.png" Id="R67ceb76e66b04b0f" /><Relationship Type="http://schemas.openxmlformats.org/officeDocument/2006/relationships/notesSlide" Target="/ppt/notesSlides/notesSlide7.xml" Id="Rad40f79b7f614a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623c3577794c15" /><Relationship Type="http://schemas.openxmlformats.org/officeDocument/2006/relationships/image" Target="/ppt/media/image8.png" Id="R58a2fe11686e4f6d" /><Relationship Type="http://schemas.openxmlformats.org/officeDocument/2006/relationships/notesSlide" Target="/ppt/notesSlides/notesSlide8.xml" Id="R802174b81b0c4f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099b790a84e01" /><Relationship Type="http://schemas.openxmlformats.org/officeDocument/2006/relationships/image" Target="/ppt/media/image9.png" Id="R0d201dfba17d4334" /><Relationship Type="http://schemas.openxmlformats.org/officeDocument/2006/relationships/notesSlide" Target="/ppt/notesSlides/notesSlide9.xml" Id="Rb94250671bec41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9b31fda6441c9" /><Relationship Type="http://schemas.openxmlformats.org/officeDocument/2006/relationships/image" Target="/ppt/media/image.jpeg" Id="R2bc5c18f271746f5" /><Relationship Type="http://schemas.openxmlformats.org/officeDocument/2006/relationships/notesSlide" Target="/ppt/notesSlides/notesSlide10.xml" Id="R84bfdfdc555d41c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32ef2a91e489f" /><Relationship Type="http://schemas.openxmlformats.org/officeDocument/2006/relationships/image" Target="/ppt/media/image10.png" Id="R2f3b6decd1a840cc" /><Relationship Type="http://schemas.openxmlformats.org/officeDocument/2006/relationships/notesSlide" Target="/ppt/notesSlides/notesSlide11.xml" Id="R4b5f66cff70b44e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97279552340c3" /><Relationship Type="http://schemas.openxmlformats.org/officeDocument/2006/relationships/image" Target="/ppt/media/image11.png" Id="R956ef084945f4678" /><Relationship Type="http://schemas.openxmlformats.org/officeDocument/2006/relationships/notesSlide" Target="/ppt/notesSlides/notesSlide12.xml" Id="R48656dc8d1cd497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0ae0c8f0f46cd" /><Relationship Type="http://schemas.openxmlformats.org/officeDocument/2006/relationships/image" Target="/ppt/media/image12.png" Id="R8353ecd3870b43bc" /><Relationship Type="http://schemas.openxmlformats.org/officeDocument/2006/relationships/image" Target="/ppt/media/image13.png" Id="Rc2661134a66b48f9" /><Relationship Type="http://schemas.openxmlformats.org/officeDocument/2006/relationships/notesSlide" Target="/ppt/notesSlides/notesSlide13.xml" Id="R8c1e0105cbc6483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970962b9e463f" /><Relationship Type="http://schemas.openxmlformats.org/officeDocument/2006/relationships/image" Target="/ppt/media/image14.png" Id="Re4e34199ff73448e" /><Relationship Type="http://schemas.openxmlformats.org/officeDocument/2006/relationships/notesSlide" Target="/ppt/notesSlides/notesSlide14.xml" Id="R5ce82c4b9d43459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78591fbeb4fd3" /><Relationship Type="http://schemas.openxmlformats.org/officeDocument/2006/relationships/notesSlide" Target="/ppt/notesSlides/notesSlide15.xml" Id="R15a9030daee248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89A70-537D-4CAE-B9F6-9ABE28EC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生成式人工智能 · 项目开题报告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8CCAFD-C411-44AB-9700-C7BCCD01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7429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700" b="1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月下酒馆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C4B579-0490-44B7-A17E-86AE9E3C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171575"/>
            <a:ext cx="394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The Moonlit Tankard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0F151-67A6-4141-8B51-9698FCFA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8117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rPr>
              <a:t>AI 伙伴与像素酒馆经营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4e32048434969"/>
          <a:stretch xmlns:a="http://schemas.openxmlformats.org/drawingml/2006/main"/>
        </p:blipFill>
        <p:spPr>
          <a:xfrm xmlns:a="http://schemas.openxmlformats.org/drawingml/2006/main">
            <a:off x="1962059" y="2419350"/>
            <a:ext cx="8267882" cy="38957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3280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F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5FCEC8-E51C-4842-B77F-EB07F87B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选题领域与拟解决的问题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83F8E-3050-440D-B956-1F1CCA00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71CC7-4181-4865-9CF1-F55805AD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生成式 AI 在互动游戏中的应用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06BB0-7E08-4DC9-8CCF-4CBA55C5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52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面向喜欢轻经营与角色互动的玩家，</a:t>
            </a:r>
          </a:p>
          <a:p xmlns:a="http://schemas.openxmlformats.org/drawingml/2006/main">
            <a:pPr>
              <a:buNone/>
              <a:def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让酒馆伙伴能参与工作、理解当下情境。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51F02-5C2F-498E-AC71-39D2A004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对话与玩法脱节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23B00-C58A-425B-8945-DA41B6A3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5334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rPr>
              <a:t>把订单、岗位与经营状态带入对话，</a:t>
            </a:r>
          </a:p>
          <a:p xmlns:a="http://schemas.openxmlformats.org/drawingml/2006/main">
            <a:pPr>
              <a:buNone/>
              <a:defRPr sz="1875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rPr>
              <a:t>让伙伴回应玩家正在经历的事情。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BD9A5-2FAA-42E9-A1C2-4B36A702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角色差异与游玩变化不足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1882B-E74E-4234-A795-A45ACBE6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5429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rPr>
              <a:t>通过角色设定、短期记忆与更多事件，</a:t>
            </a:r>
          </a:p>
          <a:p xmlns:a="http://schemas.openxmlformats.org/drawingml/2006/main">
            <a:pPr>
              <a:buNone/>
              <a:defRPr sz="1875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rPr>
              <a:t>增加伙伴辨识度与重复游玩的变化。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24fa2fa41a4ba8"/>
          <a:stretch xmlns:a="http://schemas.openxmlformats.org/drawingml/2006/main"/>
        </p:blipFill>
        <p:spPr>
          <a:xfrm xmlns:a="http://schemas.openxmlformats.org/drawingml/2006/main">
            <a:off x="6743402" y="2152650"/>
            <a:ext cx="4601170" cy="3933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8468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0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89F141-C740-446B-B069-A46EA93E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典型应用与项目借鉴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1B3B1-5262-45E8-82A8-BCAAFF4E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D70065-F57B-495A-9300-F3EEEB32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23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Generative Agents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DC07F-4397-44C5-8087-BFD21053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238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虚拟小镇中的生成式智能体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508BB-34FA-4BC9-856C-728F1BA3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5219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应用方式</a:t>
            </a:r>
          </a:p>
          <a:p xmlns:a="http://schemas.openxmlformats.org/drawingml/2006/main">
            <a:pPr>
              <a:buNone/>
              <a:def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结合记忆、反思与计划，</a:t>
            </a:r>
          </a:p>
          <a:p xmlns:a="http://schemas.openxmlformats.org/drawingml/2006/main">
            <a:pPr>
              <a:buNone/>
              <a:def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驱动虚拟角色的日常活动。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CDFB2-F4E2-419B-A6B4-B73655FD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5219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展示效果</a:t>
            </a:r>
          </a:p>
          <a:p xmlns:a="http://schemas.openxmlformats.org/drawingml/2006/main">
            <a:pPr>
              <a:buNone/>
              <a:def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角色可根据经历展开社交互动，</a:t>
            </a:r>
          </a:p>
          <a:p xmlns:a="http://schemas.openxmlformats.org/drawingml/2006/main">
            <a:pPr>
              <a:buNone/>
              <a:def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形成连续的生活情境。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06B5F-89B2-4412-9157-62F93402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借鉴：让伙伴记住近期经历。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F18EE-0AF0-48F9-88A2-42F72B1D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04950"/>
            <a:ext cx="518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SillyTavern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32EDB1-0455-4D43-A5C4-E2D2DB7D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76450"/>
            <a:ext cx="5181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开源角色对话前端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67BE34-0133-4EE7-92D0-A2AF63D9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5575"/>
            <a:ext cx="51816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应用方式</a:t>
            </a:r>
          </a:p>
          <a:p xmlns:a="http://schemas.openxmlformats.org/drawingml/2006/main">
            <a:pPr>
              <a:buNone/>
              <a:def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以角色卡组织人物设定，</a:t>
            </a:r>
          </a:p>
          <a:p xmlns:a="http://schemas.openxmlformats.org/drawingml/2006/main">
            <a:pPr>
              <a:buNone/>
              <a:def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连接不同的大语言模型。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5476D-F3DB-420E-AA25-F0D63D01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29075"/>
            <a:ext cx="51816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应用效果</a:t>
            </a:r>
          </a:p>
          <a:p xmlns:a="http://schemas.openxmlformats.org/drawingml/2006/main">
            <a:pPr>
              <a:buNone/>
              <a:def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支持自定义角色与持续对话，</a:t>
            </a:r>
          </a:p>
          <a:p xmlns:a="http://schemas.openxmlformats.org/drawingml/2006/main">
            <a:pPr>
              <a:buNone/>
              <a:def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让用户调整角色及模型配置。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151855-2C55-4E35-9028-A23ACB97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518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借鉴：将角色设定接入经营场景。</a:t>
            </a:r>
          </a:p>
        </p:txBody>
      </p:sp>
    </p:spTree>
    <p:extLst>
      <p:ext uri="{BB962C8B-B14F-4D97-AF65-F5344CB8AC3E}">
        <p14:creationId xmlns:p14="http://schemas.microsoft.com/office/powerpoint/2010/main" val="1587171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72B4CE-22CB-430B-A010-F348D90E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项目需求与现有原型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ADCB7-D11F-4EF9-AF0B-24529169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dd95702de84914"/>
          <a:stretch xmlns:a="http://schemas.openxmlformats.org/drawingml/2006/main"/>
        </p:blipFill>
        <p:spPr>
          <a:xfrm xmlns:a="http://schemas.openxmlformats.org/drawingml/2006/main">
            <a:off x="609600" y="1640722"/>
            <a:ext cx="5953125" cy="3700382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52E5F-72F2-41D9-A34D-24506432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598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rPr>
              <a:t>现有原型：伙伴接单并参与服务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9D308-5DC0-4C9F-885B-C0272815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4573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经营流程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B7E94-5321-4B86-A307-B33D13D4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145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已实现点单、制作、上菜与结算，</a:t>
            </a:r>
          </a:p>
          <a:p xmlns:a="http://schemas.openxmlformats.org/drawingml/2006/main">
            <a:pPr>
              <a:buNone/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支持玩家接管伙伴工作。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B1059-5F79-41E9-A2F7-DCBD0FF8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AI 互动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678A3-2FC5-44DC-9539-52B1039F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3375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已接入真实模型聊天与短期记忆，</a:t>
            </a:r>
          </a:p>
          <a:p xmlns:a="http://schemas.openxmlformats.org/drawingml/2006/main">
            <a:pPr>
              <a:buNone/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支持伙伴结合经营状态回应。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BEA593-8F79-414B-A220-6BE6DEBA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148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内容扩展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FAE76F-4BDB-426D-B453-7C22CBF2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7720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拟增加更多特殊事件与伙伴，</a:t>
            </a:r>
          </a:p>
          <a:p xmlns:a="http://schemas.openxmlformats.org/drawingml/2006/main">
            <a:pPr>
              <a:buNone/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完善角色对话及经营联动。</a:t>
            </a:r>
          </a:p>
        </p:txBody>
      </p:sp>
    </p:spTree>
    <p:extLst>
      <p:ext uri="{BB962C8B-B14F-4D97-AF65-F5344CB8AC3E}">
        <p14:creationId xmlns:p14="http://schemas.microsoft.com/office/powerpoint/2010/main" val="7327695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F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13A95-4DFE-46F0-9A66-97734B45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点单与服务流程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DC0CD-9DA6-4CC8-BDFA-622D016D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4e4f5cb5d944af"/>
          <a:stretch xmlns:a="http://schemas.openxmlformats.org/drawingml/2006/main"/>
        </p:blipFill>
        <p:spPr>
          <a:xfrm xmlns:a="http://schemas.openxmlformats.org/drawingml/2006/main">
            <a:off x="1151628" y="1476375"/>
            <a:ext cx="5583444" cy="409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B7975-77F2-4B56-876A-1F6A7A39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rPr>
              <a:t>现有原型：伙伴对话与点单场景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B60399-2CEA-429E-A0F2-B191C983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562100"/>
            <a:ext cx="3829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自动服务与玩家接管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DE80E-2BCA-4314-A1EE-2A507883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28825"/>
            <a:ext cx="38290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伙伴参与接单、调饮与上菜，</a:t>
            </a:r>
          </a:p>
          <a:p xmlns:a="http://schemas.openxmlformats.org/drawingml/2006/main">
            <a:pPr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玩家可随时接管具体工作。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EE1EB-A512-4527-873D-F5C97BA7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43250"/>
            <a:ext cx="3829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岗位协作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168F7D-BC8D-44A7-B6A1-8BEA7927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09975"/>
            <a:ext cx="38290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共享任务状态避免重复接单，</a:t>
            </a:r>
          </a:p>
          <a:p xmlns:a="http://schemas.openxmlformats.org/drawingml/2006/main">
            <a:pPr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清理桌面后继续接待客人。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2637F-2F96-42B5-A86A-7D4286FD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724400"/>
            <a:ext cx="3829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连击奖励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F1ACED-F302-49A6-B6AE-270A9D63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191125"/>
            <a:ext cx="38290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连续服务达到 3 / 6 / 10 次，</a:t>
            </a:r>
          </a:p>
          <a:p xmlns:a="http://schemas.openxmlformats.org/drawingml/2006/main">
            <a:pPr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分别获得 10% / 20% / 35% 加成。</a:t>
            </a:r>
          </a:p>
        </p:txBody>
      </p:sp>
    </p:spTree>
    <p:extLst>
      <p:ext uri="{BB962C8B-B14F-4D97-AF65-F5344CB8AC3E}">
        <p14:creationId xmlns:p14="http://schemas.microsoft.com/office/powerpoint/2010/main" val="17802836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0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01E514-9EA5-4915-A0CF-74030256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饮品菜单与秘方解锁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371DD-1E5C-49AE-A5D6-31E4D727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17DDF0-88C7-4825-93DD-50CFDBCA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143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菜单管理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D0E82-BDA2-49B4-883F-60C688D7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5143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9 款饮品，调整上架状态与库存。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20e269d7ac443c"/>
          <a:stretch xmlns:a="http://schemas.openxmlformats.org/drawingml/2006/main"/>
        </p:blipFill>
        <p:spPr>
          <a:xfrm xmlns:a="http://schemas.openxmlformats.org/drawingml/2006/main">
            <a:off x="990859" y="2343150"/>
            <a:ext cx="4380982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EAF52A-43CD-4041-AEEE-B299C1AD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352550"/>
            <a:ext cx="5162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秘方收集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94B7C0-6182-4012-BDF7-A831385A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19275"/>
            <a:ext cx="5162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消耗灵感抽取秘方，扩展饮品搭配。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4fe72056384791"/>
          <a:stretch xmlns:a="http://schemas.openxmlformats.org/drawingml/2006/main"/>
        </p:blipFill>
        <p:spPr>
          <a:xfrm xmlns:a="http://schemas.openxmlformats.org/drawingml/2006/main">
            <a:off x="6914496" y="2343150"/>
            <a:ext cx="4173258" cy="3333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78237-162F-4548-B6A0-9B49573D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rPr>
              <a:t>每次抽取消耗 10 灵感，设有稀有度、保底与重复返还，每晚可选择一项招牌加成。</a:t>
            </a:r>
          </a:p>
        </p:txBody>
      </p:sp>
    </p:spTree>
    <p:extLst>
      <p:ext uri="{BB962C8B-B14F-4D97-AF65-F5344CB8AC3E}">
        <p14:creationId xmlns:p14="http://schemas.microsoft.com/office/powerpoint/2010/main" val="13102077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78124E-3F44-4F35-BF2D-4B746CB1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补货系统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D8906-05C2-44DC-BF23-E8166BB8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ceb76e66b04b0f"/>
          <a:stretch xmlns:a="http://schemas.openxmlformats.org/drawingml/2006/main"/>
        </p:blipFill>
        <p:spPr>
          <a:xfrm xmlns:a="http://schemas.openxmlformats.org/drawingml/2006/main">
            <a:off x="614547" y="1333500"/>
            <a:ext cx="6181357" cy="4876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3A608-A423-465C-9775-0A5E98CE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562100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按原料补货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73279-98CB-4C48-8A35-8D961AAE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028825"/>
            <a:ext cx="42386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补货界面展示 9 类原料，</a:t>
            </a:r>
          </a:p>
          <a:p xmlns:a="http://schemas.openxmlformats.org/drawingml/2006/main">
            <a:pPr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每次采购增加 6 份对应原料。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04094-987A-478D-B275-047DB535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133725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容量与成本约束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FB3545-5A5B-467A-A929-32C0CFC2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600450"/>
            <a:ext cx="42386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基础容量为 24 份，</a:t>
            </a:r>
          </a:p>
          <a:p xmlns:a="http://schemas.openxmlformats.org/drawingml/2006/main">
            <a:pPr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采购时需同时考虑余额与剩余空间。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AB4E78-96AC-4792-9260-C10DD8EF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705350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跨日库存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F6BE1F-EF3A-4AC5-852D-882DEADC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5172075"/>
            <a:ext cx="42386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未用完的原料保留到下一天，</a:t>
            </a:r>
          </a:p>
          <a:p xmlns:a="http://schemas.openxmlformats.org/drawingml/2006/main">
            <a:pPr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按菜单需求安排下一轮采购。</a:t>
            </a:r>
          </a:p>
        </p:txBody>
      </p:sp>
    </p:spTree>
    <p:extLst>
      <p:ext uri="{BB962C8B-B14F-4D97-AF65-F5344CB8AC3E}">
        <p14:creationId xmlns:p14="http://schemas.microsoft.com/office/powerpoint/2010/main" val="14473758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F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F1E780-719F-40F4-B30F-7BFD8BCD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酒馆装修与设备升级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F5842E-22CC-4056-93AF-AE9DB021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2fe11686e4f6d"/>
          <a:stretch xmlns:a="http://schemas.openxmlformats.org/drawingml/2006/main"/>
        </p:blipFill>
        <p:spPr>
          <a:xfrm xmlns:a="http://schemas.openxmlformats.org/drawingml/2006/main">
            <a:off x="609600" y="1419256"/>
            <a:ext cx="7048500" cy="37908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C407B-1C74-42F4-A503-951FD428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rPr>
              <a:t>开门前规划支出，逐步扩大接待能力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B0366-C7D2-47C8-B003-395292E2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76375"/>
            <a:ext cx="3448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桌位扩建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DF9B0C-1948-402D-9473-7737C620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43100"/>
            <a:ext cx="34480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桌位可由 2 桌扩至 6 桌，</a:t>
            </a:r>
          </a:p>
          <a:p xmlns:a="http://schemas.openxmlformats.org/drawingml/2006/main">
            <a:pPr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扩建费用随规模增加。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8D8A15-5514-49E3-A8CC-55E72AA4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48000"/>
            <a:ext cx="3448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设备效果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2D494-99EF-479C-958D-9E54A787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14725"/>
            <a:ext cx="34480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精密调饮台缩短制作时间，</a:t>
            </a:r>
          </a:p>
          <a:p xmlns:a="http://schemas.openxmlformats.org/drawingml/2006/main">
            <a:pPr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储藏柜将容量从 24 提升至 40。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66E6C6-59F3-4ACB-ADA2-780D522D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619625"/>
            <a:ext cx="3448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环境改善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F4335-B5C9-4C9F-A9F1-C923A3BD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86350"/>
            <a:ext cx="34480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柔光与音乐增加小费，</a:t>
            </a:r>
          </a:p>
          <a:p xmlns:a="http://schemas.openxmlformats.org/drawingml/2006/main">
            <a:pPr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窗边绿意延长客人耐心。</a:t>
            </a:r>
          </a:p>
        </p:txBody>
      </p:sp>
    </p:spTree>
    <p:extLst>
      <p:ext uri="{BB962C8B-B14F-4D97-AF65-F5344CB8AC3E}">
        <p14:creationId xmlns:p14="http://schemas.microsoft.com/office/powerpoint/2010/main" val="1355720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0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6FA785-5EBE-45DC-B901-C6B390A8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伙伴系统展示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4C52A-9D65-4A12-9639-D8822D90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201dfba17d4334"/>
          <a:stretch xmlns:a="http://schemas.openxmlformats.org/drawingml/2006/main"/>
        </p:blipFill>
        <p:spPr>
          <a:xfrm xmlns:a="http://schemas.openxmlformats.org/drawingml/2006/main">
            <a:off x="611230" y="1381125"/>
            <a:ext cx="6187989" cy="48863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27991-50F1-45FB-B314-F136AA3C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514475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伙伴招募与排班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A5AF77-9F80-4373-B9B5-9E0EFBCF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981200"/>
            <a:ext cx="42386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现有青芽、团团、星禾、弦月，</a:t>
            </a:r>
          </a:p>
          <a:p xmlns:a="http://schemas.openxmlformats.org/drawingml/2006/main">
            <a:pPr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最多安排 3 位伙伴同时值班。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D15005-9CB8-4AE5-B611-AE64A94E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105150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岗位与能力差异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92C14C-62F7-4EF6-A968-FC04AF83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571875"/>
            <a:ext cx="42386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调饮、跑堂与全能岗位各有分工，</a:t>
            </a:r>
          </a:p>
          <a:p xmlns:a="http://schemas.openxmlformats.org/drawingml/2006/main">
            <a:pPr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伙伴带来制作、移速或小费加成。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D2894-6A13-4F06-9661-025E14D1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695825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经营中的角色互动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979184-42B6-46D4-B3D9-7D06FD4F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5162550"/>
            <a:ext cx="42386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开门前调整阵容，营业后参与工作。</a:t>
            </a:r>
          </a:p>
          <a:p xmlns:a="http://schemas.openxmlformats.org/drawingml/2006/main">
            <a:pPr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伙伴聊天结合当前状态与近期记忆。</a:t>
            </a:r>
          </a:p>
        </p:txBody>
      </p:sp>
    </p:spTree>
    <p:extLst>
      <p:ext uri="{BB962C8B-B14F-4D97-AF65-F5344CB8AC3E}">
        <p14:creationId xmlns:p14="http://schemas.microsoft.com/office/powerpoint/2010/main" val="9828978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B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FC6C9-6AF3-486F-8EEB-0FA80E60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未来要添加的伙伴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91CD5-AD3D-4C77-8A2B-AEAC3140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D0AF7-3FC6-4B51-9B6A-639CD0CD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拟加入角色的形象预览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c5c18f271746f5"/>
          <a:stretch xmlns:a="http://schemas.openxmlformats.org/drawingml/2006/main"/>
        </p:blipFill>
        <p:spPr>
          <a:xfrm xmlns:a="http://schemas.openxmlformats.org/drawingml/2006/main">
            <a:off x="613883" y="1943100"/>
            <a:ext cx="10964234" cy="36576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D006A-6961-4793-B5CA-51D29CA2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后续为新伙伴配置姓名、性格与岗位特长，并逐步接入差异化对话和专属事件。</a:t>
            </a:r>
          </a:p>
        </p:txBody>
      </p:sp>
    </p:spTree>
    <p:extLst>
      <p:ext uri="{BB962C8B-B14F-4D97-AF65-F5344CB8AC3E}">
        <p14:creationId xmlns:p14="http://schemas.microsoft.com/office/powerpoint/2010/main" val="13343656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F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B78D9-D914-4E14-B61C-2EA99D8F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派对系统与经营节奏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64CA3-D368-44AF-BD58-C24491E0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b6decd1a840cc"/>
          <a:stretch xmlns:a="http://schemas.openxmlformats.org/drawingml/2006/main"/>
        </p:blipFill>
        <p:spPr>
          <a:xfrm xmlns:a="http://schemas.openxmlformats.org/drawingml/2006/main">
            <a:off x="609600" y="1334971"/>
            <a:ext cx="6096000" cy="489290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C1A4E-84A4-40C8-9613-68AF8D2A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6685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派对模式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5BC70-DB02-47A3-A593-2FB84923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33575"/>
            <a:ext cx="43434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花费 60 G 开启 120 秒派对，</a:t>
            </a:r>
          </a:p>
          <a:p xmlns:a="http://schemas.openxmlformats.org/drawingml/2006/main">
            <a:pPr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提高客流，并增加饮品收入。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8671B5-3224-4907-80BF-6DE1DE09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57525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出杯风格选择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0E07EB-DCD8-48DD-83B2-506E2311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0"/>
            <a:ext cx="43434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轻快出杯：制作快 35%，售价低 10%。</a:t>
            </a:r>
          </a:p>
          <a:p xmlns:a="http://schemas.openxmlformats.org/drawingml/2006/main">
            <a:pPr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精酿慢享：制作慢 25%，售价高 45%。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C2B8D6-4347-44D6-BD33-82327AE5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482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当日目标与灵感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BEC77D-1385-43A1-8005-F60724DD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14925"/>
            <a:ext cx="43434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完成派对期间 3 桌服务，</a:t>
            </a:r>
          </a:p>
          <a:p xmlns:a="http://schemas.openxmlformats.org/drawingml/2006/main">
            <a:pPr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可获得当日一次的 12 灵感奖励。</a:t>
            </a:r>
          </a:p>
        </p:txBody>
      </p:sp>
    </p:spTree>
    <p:extLst>
      <p:ext uri="{BB962C8B-B14F-4D97-AF65-F5344CB8AC3E}">
        <p14:creationId xmlns:p14="http://schemas.microsoft.com/office/powerpoint/2010/main" val="5019140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B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0DE317-4C43-47E1-81E9-02B5562C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后续拓展：更多特殊事件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98715-52BA-498E-863A-E4297F47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B8B50-36D2-4DB9-B0C5-F29B623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已有事件原型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0E58F1-3AC7-4F61-A3AC-35CCCD1C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4362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“全场买单”客串事件，</a:t>
            </a:r>
          </a:p>
          <a:p xmlns:a="http://schemas.openxmlformats.org/drawingml/2006/main">
            <a:pPr>
              <a:buNone/>
              <a:def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验证事件与经营过程的联动。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B6E20-770D-4092-907D-CC5710DC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B866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8663E"/>
                </a:solidFill>
                <a:latin typeface="Microsoft YaHei"/>
                <a:ea typeface="Microsoft YaHei"/>
                <a:cs typeface="Microsoft YaHei"/>
              </a:rPr>
              <a:t>拟增加的事件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14065B-D881-4020-A243-C4D99B64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4362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节日主题夜与限时订单</a:t>
            </a:r>
          </a:p>
          <a:p xmlns:a="http://schemas.openxmlformats.org/drawingml/2006/main">
            <a:pPr>
              <a:buNone/>
              <a:def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神秘来客与伙伴专属委托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3BFDAC-BC6B-486C-BEF7-E76DC88A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初步实现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26B79-52E3-4A66-A49D-C012C198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4457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配置触发条件、玩家选项与奖励，</a:t>
            </a:r>
          </a:p>
          <a:p xmlns:a="http://schemas.openxmlformats.org/drawingml/2006/main">
            <a:pPr>
              <a:buNone/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让事件结果影响收入或伙伴记忆。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6ef084945f4678"/>
          <a:stretch xmlns:a="http://schemas.openxmlformats.org/drawingml/2006/main"/>
        </p:blipFill>
        <p:spPr>
          <a:xfrm xmlns:a="http://schemas.openxmlformats.org/drawingml/2006/main">
            <a:off x="5239132" y="1819275"/>
            <a:ext cx="6342886" cy="38385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64AF37-1B0F-41ED-9E61-6D0F345E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838825"/>
            <a:ext cx="634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rPr>
              <a:t>现有原型截图：虚构客串“全场买单”</a:t>
            </a:r>
          </a:p>
        </p:txBody>
      </p:sp>
    </p:spTree>
    <p:extLst>
      <p:ext uri="{BB962C8B-B14F-4D97-AF65-F5344CB8AC3E}">
        <p14:creationId xmlns:p14="http://schemas.microsoft.com/office/powerpoint/2010/main" val="9281836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0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C9F83-E57D-4419-B831-9011F366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打烊确认与当晚结算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7BA97-2D8C-4EB3-ADC7-CB4F42D3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A07E7-F50E-4A11-BDB3-B27F843B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6429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打烊前确认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53ecd3870b43bc"/>
          <a:stretch xmlns:a="http://schemas.openxmlformats.org/drawingml/2006/main"/>
        </p:blipFill>
        <p:spPr>
          <a:xfrm xmlns:a="http://schemas.openxmlformats.org/drawingml/2006/main">
            <a:off x="610971" y="2076450"/>
            <a:ext cx="6426633" cy="24193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01535-BA81-431D-B758-14EAB763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6429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确认打烊后结束未完成订单，</a:t>
            </a:r>
          </a:p>
          <a:p xmlns:a="http://schemas.openxmlformats.org/drawingml/2006/main">
            <a:pPr>
              <a:defRPr sz="202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剩余原料保留到下一天。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F0914-6172-471E-88EA-1AFFDF7E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371600"/>
            <a:ext cx="38957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当晚营业账本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661134a66b48f9"/>
          <a:stretch xmlns:a="http://schemas.openxmlformats.org/drawingml/2006/main"/>
        </p:blipFill>
        <p:spPr>
          <a:xfrm xmlns:a="http://schemas.openxmlformats.org/drawingml/2006/main">
            <a:off x="7686675" y="1917297"/>
            <a:ext cx="3895725" cy="402353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A1AD5B-4416-446B-980C-68800608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rPr>
              <a:t>查看收入与工资，规划下一天的经营。</a:t>
            </a:r>
          </a:p>
        </p:txBody>
      </p:sp>
    </p:spTree>
    <p:extLst>
      <p:ext uri="{BB962C8B-B14F-4D97-AF65-F5344CB8AC3E}">
        <p14:creationId xmlns:p14="http://schemas.microsoft.com/office/powerpoint/2010/main" val="17394056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F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F1F038-0FB8-4A60-BE88-19DAAC4D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初步实现方案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9E8B70-F75B-4516-B1D3-152B206C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599D0-989A-4AEC-97B0-F91465C5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6334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01  游戏运行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E74C0-7D86-4CE4-BAEA-C4AE4EC6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6381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HTML / CSS / JavaScript + Canvas，</a:t>
            </a:r>
          </a:p>
          <a:p xmlns:a="http://schemas.openxmlformats.org/drawingml/2006/main">
            <a:pPr>
              <a:buNone/>
              <a:defRPr sz="180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用规则系统处理订单、岗位与经营数值。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14D9D-3AAB-4242-BC88-38F759A0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1275"/>
            <a:ext cx="6334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02  模型对话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ABD9F-FC1C-46A7-8A2C-C5B9979B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6381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浏览器直连兼容接口，流式显示回复。</a:t>
            </a:r>
          </a:p>
          <a:p xmlns:a="http://schemas.openxmlformats.org/drawingml/2006/main">
            <a:pPr>
              <a:buNone/>
              <a:defRPr sz="180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默认 Qwen Plus，输入包含状态与近期记忆。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7780C-0194-4919-BAFD-01080D5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6334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03  行为边界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BE62F-7367-4668-8D02-17D97B13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6381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模型建议限定在允许的活动范围内，</a:t>
            </a:r>
          </a:p>
          <a:p xmlns:a="http://schemas.openxmlformats.org/drawingml/2006/main">
            <a:pPr>
              <a:buNone/>
              <a:defRPr sz="180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支出由玩家确认，调用失败时经营继续。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6E9A42-E86E-4672-AD53-FA447888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6334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04  本地保存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16C6E7-79A2-4D80-96B8-BDE5D879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6381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本地自动存档，支持导入与导出。</a:t>
            </a:r>
          </a:p>
          <a:p xmlns:a="http://schemas.openxmlformats.org/drawingml/2006/main">
            <a:pPr>
              <a:buNone/>
              <a:defRPr sz="180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API Key 仅保留在当前标签页会话中。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e34199ff73448e"/>
          <a:stretch xmlns:a="http://schemas.openxmlformats.org/drawingml/2006/main"/>
        </p:blipFill>
        <p:spPr>
          <a:xfrm xmlns:a="http://schemas.openxmlformats.org/drawingml/2006/main">
            <a:off x="7477125" y="1615990"/>
            <a:ext cx="4105275" cy="405464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CBC4F-83CC-49CA-82D8-E2AE8743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857875"/>
            <a:ext cx="4105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rPr>
              <a:t>现有模型连接设置界面</a:t>
            </a:r>
          </a:p>
        </p:txBody>
      </p:sp>
    </p:spTree>
    <p:extLst>
      <p:ext uri="{BB962C8B-B14F-4D97-AF65-F5344CB8AC3E}">
        <p14:creationId xmlns:p14="http://schemas.microsoft.com/office/powerpoint/2010/main" val="6517765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F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221D6-AC21-4CCF-AA8D-F1A2D414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开发计划与预期成果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EC0C4-2198-4DB7-9376-D66176E8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706A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E589A3-F1B8-44F5-A5BE-7B5324E8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6638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阶段一  完善经营体验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516EFB-2204-4F28-B440-C443A059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66389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完善补货、装修与排班的界面反馈，</a:t>
            </a:r>
          </a:p>
          <a:p xmlns:a="http://schemas.openxmlformats.org/drawingml/2006/main">
            <a:pPr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检查跨日库存、工资与存档的一致性。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59071-04F4-47B6-8280-A7DFA477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6638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阶段二  增加伙伴与事件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9A70D-52B4-4B63-B38C-73C62133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66389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接入新伙伴形象、性格与岗位能力，</a:t>
            </a:r>
          </a:p>
          <a:p xmlns:a="http://schemas.openxmlformats.org/drawingml/2006/main">
            <a:pPr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加入更多特殊事件及伙伴专属互动。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21C03E-255F-4C8C-A840-2D5A4B86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6638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阶段三  试玩与交付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C1EA8-2C5E-4D4B-94C3-DB0FD787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66389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调整经营数值并检查模型异常处理，</a:t>
            </a:r>
          </a:p>
          <a:p xmlns:a="http://schemas.openxmlformats.org/drawingml/2006/main">
            <a:pPr>
              <a:def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提交可运行项目、说明文档与演示。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E3EEB-EDAB-4570-ACFB-4C43D181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504950"/>
            <a:ext cx="35147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7B64"/>
                </a:solidFill>
                <a:latin typeface="Microsoft YaHei"/>
                <a:ea typeface="Microsoft YaHei"/>
                <a:cs typeface="Microsoft YaHei"/>
              </a:rPr>
              <a:t>预期验收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9F0ADC-090F-4C57-A5C0-C0BF85DC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143125"/>
            <a:ext cx="35147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完成一轮经营并恢复存档。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新伙伴可排班、工作和对话。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新增事件按条件触发，</a:t>
            </a:r>
          </a:p>
          <a:p xmlns:a="http://schemas.openxmlformats.org/drawingml/2006/main">
            <a:pPr>
              <a:def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23D3A"/>
                </a:solidFill>
                <a:latin typeface="Microsoft YaHei"/>
                <a:ea typeface="Microsoft YaHei"/>
                <a:cs typeface="Microsoft YaHei"/>
              </a:rPr>
              <a:t>结果与经营状态保持一致。</a:t>
            </a:r>
          </a:p>
        </p:txBody>
      </p:sp>
    </p:spTree>
    <p:extLst>
      <p:ext uri="{BB962C8B-B14F-4D97-AF65-F5344CB8AC3E}">
        <p14:creationId xmlns:p14="http://schemas.microsoft.com/office/powerpoint/2010/main" val="5837139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2026-10-27T01:01:13.5510000Z</dcterms:created>
  <dcterms:modified xsi:type="dcterms:W3CDTF">2026-10-27T01:01:13.5510000Z</dcterms:modified>
</coreProperties>
</file>